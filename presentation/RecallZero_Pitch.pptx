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0515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726"/>
                </a:solidFill>
              </a:rPr>
              <a:t>The Challenge: Recalls Are Discovered Too 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3A4759"/>
                </a:solidFill>
              </a:rPr>
              <a:t>Vehicle Defect Pattern Agent - RecallZero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0B1726"/>
                </a:solidFill>
              </a:rPr>
              <a:t>- Consumer safety complaints arrive by the thousands per vehicle, in free text, from unrelated owners.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B1726"/>
                </a:solidFill>
              </a:rPr>
              <a:t>- Quality and safety engineers manually sift this volume with keyword search and periodic review.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B1726"/>
                </a:solidFill>
              </a:rPr>
              <a:t>- By the time a pattern is obvious enough to notice manually, a formal recall is often already underway - the warning arrives after the fact.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0B1726"/>
                </a:solidFill>
              </a:rPr>
              <a:t>- There is no consistent, repeatable, auditable way to flag an emerging defect before it becomes a recall.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76B900"/>
                </a:solidFill>
              </a:rPr>
              <a:t>Who feels this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148840"/>
            <a:ext cx="502920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400"/>
              </a:spcAft>
            </a:pPr>
            <a:r>
              <a:rPr sz="1600">
                <a:solidFill>
                  <a:srgbClr val="0B1726"/>
                </a:solidFill>
              </a:rPr>
              <a:t>- OEM quality and safety engineering teams triaging fleet-wide complaint volume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B1726"/>
                </a:solidFill>
              </a:rPr>
              <a:t>- Regulatory and compliance reviewers who need a defensible evidence trail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B1726"/>
                </a:solidFill>
              </a:rPr>
              <a:t>- Investigation leads deciding whether an issue is worth opening a formal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0515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726"/>
                </a:solidFill>
              </a:rPr>
              <a:t>Landscape and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3A4759"/>
                </a:solidFill>
              </a:rPr>
              <a:t>What exists today, and why RecallZero is different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8077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Today</a:t>
                      </a:r>
                    </a:p>
                  </a:txBody>
                  <a:tcPr anchor="ctr" marL="109728" marR="109728">
                    <a:solidFill>
                      <a:srgbClr val="0B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RecallZero</a:t>
                      </a:r>
                    </a:p>
                  </a:txBody>
                  <a:tcPr anchor="ctr" marL="109728" marR="109728">
                    <a:solidFill>
                      <a:srgbClr val="0B172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Manual keyword search across NHTSA complaints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Automatic NHTSA ingestion, clustered by component and root failure mechanism</a:t>
                      </a:r>
                    </a:p>
                  </a:txBody>
                  <a:tcPr anchor="ctr" marL="109728" marR="109728">
                    <a:solidFill>
                      <a:srgbClr val="EEF6D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Generic AI summarizers can invent counts, trends, or causation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AI (NVIDIA NIM) only interprets language per complaint; every count, trend, and score is deterministic code</a:t>
                      </a:r>
                    </a:p>
                  </a:txBody>
                  <a:tcPr anchor="ctr" marL="109728" marR="109728">
                    <a:solidFill>
                      <a:srgbClr val="EEF6D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Severity and priority are an opaque single score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Explainable 5-factor weighted risk score - every contribution is printed</a:t>
                      </a:r>
                    </a:p>
                  </a:txBody>
                  <a:tcPr anchor="ctr" marL="109728" marR="109728">
                    <a:solidFill>
                      <a:srgbClr val="EEF6D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Recall status is checked manually, after the fact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Recall cross-reference actively changes the score - already-covered issues stop alerting</a:t>
                      </a:r>
                    </a:p>
                  </a:txBody>
                  <a:tcPr anchor="ctr" marL="109728" marR="109728">
                    <a:solidFill>
                      <a:srgbClr val="EEF6D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Early-warning claims are asserted, not tested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1726"/>
                          </a:solidFill>
                        </a:rPr>
                        <a:t>Leakage-safe historical replay proved a 15-day early alert on a real recall, then the detector was frozen and stress-tested on 20 held-out cases</a:t>
                      </a:r>
                    </a:p>
                  </a:txBody>
                  <a:tcPr anchor="ctr" marL="109728" marR="109728">
                    <a:solidFill>
                      <a:srgbClr val="EEF6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0515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726"/>
                </a:solidFill>
              </a:rPr>
              <a:t>Customer Benefit and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3A4759"/>
                </a:solidFill>
              </a:rPr>
              <a:t>Value delivered, measured under leakage-safe historical replay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5176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76B900"/>
                </a:solidFill>
              </a:rPr>
              <a:t>15 days</a:t>
            </a:r>
          </a:p>
          <a:p>
            <a:pPr algn="ctr"/>
            <a:r>
              <a:rPr sz="1200">
                <a:solidFill>
                  <a:srgbClr val="0B1726"/>
                </a:solidFill>
              </a:rPr>
              <a:t>Earlier alert than the official recall date, measured on a real historical campaign (Ford Mustang Mach-E, 22V412000)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65176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E8C"/>
                </a:solidFill>
              </a:rPr>
              <a:t>~11%</a:t>
            </a:r>
          </a:p>
          <a:p>
            <a:pPr algn="ctr"/>
            <a:r>
              <a:rPr sz="1200">
                <a:solidFill>
                  <a:srgbClr val="0B1726"/>
                </a:solidFill>
              </a:rPr>
              <a:t>Unconfirmed-alert rate on clean control vehicles with no matching recall - low false-alarm burden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265176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76B900"/>
                </a:solidFill>
              </a:rPr>
              <a:t>100%</a:t>
            </a:r>
          </a:p>
          <a:p>
            <a:pPr algn="ctr"/>
            <a:r>
              <a:rPr sz="1200">
                <a:solidFill>
                  <a:srgbClr val="0B1726"/>
                </a:solidFill>
              </a:rPr>
              <a:t>Of alerts trace to real NHTSA complaint IDs - fully auditable, not a black-box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1737360"/>
            <a:ext cx="265176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E8C"/>
                </a:solidFill>
              </a:rPr>
              <a:t>1,000s -&gt; few</a:t>
            </a:r>
          </a:p>
          <a:p>
            <a:pPr algn="ctr"/>
            <a:r>
              <a:rPr sz="1200">
                <a:solidFill>
                  <a:srgbClr val="0B1726"/>
                </a:solidFill>
              </a:rPr>
              <a:t>Raw complaints per vehicle condensed into a short, ranked list of engineering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>
                <a:solidFill>
                  <a:srgbClr val="0B1726"/>
                </a:solidFill>
              </a:rPr>
              <a:t>- Faster triage: engineers review a short, ranked brief instead of reading thousands of raw complaints.</a:t>
            </a:r>
          </a:p>
          <a:p>
            <a:pPr algn="l">
              <a:spcAft>
                <a:spcPts val="1000"/>
              </a:spcAft>
            </a:pPr>
            <a:r>
              <a:rPr sz="1550">
                <a:solidFill>
                  <a:srgbClr val="0B1726"/>
                </a:solidFill>
              </a:rPr>
              <a:t>- Lower compliance risk: every alert is traceable to source evidence and every score shows its calculation - defensible in an audit.</a:t>
            </a:r>
          </a:p>
          <a:p>
            <a:pPr algn="l">
              <a:spcAft>
                <a:spcPts val="1000"/>
              </a:spcAft>
            </a:pPr>
            <a:r>
              <a:rPr sz="1550">
                <a:solidFill>
                  <a:srgbClr val="0B1726"/>
                </a:solidFill>
              </a:rPr>
              <a:t>- Earlier intervention: a validated earlier signal gives quality teams more time to investigate before a defect pattern grows to recall scale.</a:t>
            </a:r>
          </a:p>
          <a:p>
            <a:pPr algn="l">
              <a:spcAft>
                <a:spcPts val="1000"/>
              </a:spcAft>
            </a:pPr>
            <a:r>
              <a:rPr sz="1550">
                <a:solidFill>
                  <a:srgbClr val="0B1726"/>
                </a:solidFill>
              </a:rPr>
              <a:t>- Honest confidence: the detector was frozen and validated against 10 real recalls and 10 negative controls before any accuracy claim was made.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05156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726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3A4759"/>
                </a:solidFill>
              </a:rPr>
              <a:t>AI interprets complaint language - deterministic code decides risk, timing, and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621792"/>
          </a:xfrm>
          <a:prstGeom prst="roundRect">
            <a:avLst/>
          </a:prstGeom>
          <a:solidFill>
            <a:srgbClr val="3A4759"/>
          </a:solidFill>
          <a:ln>
            <a:solidFill>
              <a:srgbClr val="3A4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NHTSA Complaints + Recalls (public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2"/>
            <a:ext cx="6035040" cy="621792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NVIDIA NIM - Structured Failure-Signature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9544"/>
            <a:ext cx="6035040" cy="621792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NVIDIA Embeddings + Deterministic Component/Taxonomy Clustering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68496"/>
            <a:ext cx="6035040" cy="621792"/>
          </a:xfrm>
          <a:prstGeom prst="roundRect">
            <a:avLst/>
          </a:prstGeom>
          <a:solidFill>
            <a:srgbClr val="1F4E8C"/>
          </a:solidFill>
          <a:ln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Deterministic Risk Engine - Severity / Trend / Persistence / Evidence / Recall-Gap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27448"/>
            <a:ext cx="6035040" cy="621792"/>
          </a:xfrm>
          <a:prstGeom prst="roundRect">
            <a:avLst/>
          </a:prstGeom>
          <a:solidFill>
            <a:srgbClr val="1F4E8C"/>
          </a:solidFill>
          <a:ln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Recall Cross-Reference (visible recalls only at cutoff)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6035040" cy="621792"/>
          </a:xfrm>
          <a:prstGeom prst="roundRect">
            <a:avLst/>
          </a:prstGeom>
          <a:solidFill>
            <a:srgbClr val="0B1726"/>
          </a:solidFill>
          <a:ln>
            <a:solidFill>
              <a:srgbClr val="0B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Engineering Brief + Alert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.0" y="2313432"/>
            <a:ext cx="0.0" cy="164592"/>
          </a:xfrm>
          <a:prstGeom prst="line">
            <a:avLst/>
          </a:prstGeom>
          <a:ln w="28575">
            <a:solidFill>
              <a:srgbClr val="3A47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66160.0" y="3072384"/>
            <a:ext cx="0.0" cy="164592"/>
          </a:xfrm>
          <a:prstGeom prst="line">
            <a:avLst/>
          </a:prstGeom>
          <a:ln w="28575">
            <a:solidFill>
              <a:srgbClr val="3A47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66160.0" y="3831336"/>
            <a:ext cx="0.0" cy="164592"/>
          </a:xfrm>
          <a:prstGeom prst="line">
            <a:avLst/>
          </a:prstGeom>
          <a:ln w="28575">
            <a:solidFill>
              <a:srgbClr val="3A47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.0" y="4590288"/>
            <a:ext cx="0.0" cy="164592"/>
          </a:xfrm>
          <a:prstGeom prst="line">
            <a:avLst/>
          </a:prstGeom>
          <a:ln w="28575">
            <a:solidFill>
              <a:srgbClr val="3A47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66160.0" y="5349240"/>
            <a:ext cx="0.0" cy="164592"/>
          </a:xfrm>
          <a:prstGeom prst="line">
            <a:avLst/>
          </a:prstGeom>
          <a:ln w="28575">
            <a:solidFill>
              <a:srgbClr val="3A47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1691640"/>
            <a:ext cx="47548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500">
                <a:solidFill>
                  <a:srgbClr val="76B900"/>
                </a:solidFill>
              </a:rPr>
              <a:t>NeMo Agent Toolkit Agent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B1726"/>
                </a:solidFill>
              </a:rPr>
              <a:t>- Calls RecallZero tools on a natural-language request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B1726"/>
                </a:solidFill>
              </a:rPr>
              <a:t>- Narrates already-computed results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B1726"/>
                </a:solidFill>
              </a:rPr>
              <a:t>- Never invents counts, trends, or recall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251960"/>
            <a:ext cx="4754880" cy="1828800"/>
          </a:xfrm>
          <a:prstGeom prst="roundRect">
            <a:avLst/>
          </a:prstGeom>
          <a:solidFill>
            <a:srgbClr val="F2F4F7"/>
          </a:solidFill>
          <a:ln w="254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500">
                <a:solidFill>
                  <a:srgbClr val="1F4E8C"/>
                </a:solidFill>
              </a:rPr>
              <a:t>Recall Time Machine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B1726"/>
                </a:solidFill>
              </a:rPr>
              <a:t>- Leakage-safe weekly historical replay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B1726"/>
                </a:solidFill>
              </a:rPr>
              <a:t>- Detector Freeze v1 + 20-case validation cohort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B1726"/>
                </a:solidFill>
              </a:rPr>
              <a:t>- Pre-registered acceptance criteria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0B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Trust boundary: AI understands language. Deterministic code counts evidence, computes trend, and decides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